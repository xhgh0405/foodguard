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442"/>
                </a:solidFill>
              </a:defRPr>
            </a:pPr>
            <a:r>
              <a:t>FoodGuard</a:t>
            </a:r>
          </a:p>
          <a:p>
            <a:pPr>
              <a:defRPr sz="2400" b="0">
                <a:solidFill>
                  <a:srgbClr val="2463EB"/>
                </a:solidFill>
              </a:defRPr>
            </a:pPr>
            <a:r>
              <a:t>基於 MCP 與 RAG 的食品標示智慧合規判讀系統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0F2442"/>
                </a:solidFill>
              </a:defRPr>
            </a:pPr>
            <a:r>
              <a:t>專題簡報：系統架構、設計理念與系統規格</a:t>
            </a:r>
          </a:p>
          <a:p>
            <a:pPr>
              <a:defRPr sz="1600">
                <a:solidFill>
                  <a:srgbClr val="58606B"/>
                </a:solidFill>
              </a:defRPr>
            </a:pPr>
            <a:r>
              <a:t>整合 RAG 檢索、MCP 工具協作、規則引擎與 Streamlit UI</a:t>
            </a:r>
          </a:p>
          <a:p>
            <a:pPr>
              <a:defRPr sz="1600">
                <a:solidFill>
                  <a:srgbClr val="58606B"/>
                </a:solidFill>
              </a:defRPr>
            </a:pPr>
            <a:r>
              <a:t>針對食品標示、營養宣稱、過敏原與法規依據進行判讀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005840"/>
            <a:ext cx="38404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" rIns="12" tIns="12"/>
          <a:lstStyle/>
          <a:p>
            <a:pPr algn="ctr">
              <a:defRPr sz="1800" b="1">
                <a:solidFill>
                  <a:srgbClr val="0F2442"/>
                </a:solidFill>
              </a:defRPr>
            </a:pPr>
            <a:r>
              <a:t>系統目標</a:t>
            </a:r>
          </a:p>
          <a:p>
            <a:pPr>
              <a:defRPr sz="1400" b="0">
                <a:solidFill>
                  <a:srgbClr val="58606B"/>
                </a:solidFill>
              </a:defRPr>
            </a:pPr>
            <a:r>
              <a:t>1. 提升食品標示判讀正確性</a:t>
            </a:r>
          </a:p>
          <a:p>
            <a:pPr>
              <a:defRPr sz="1400" b="0">
                <a:solidFill>
                  <a:srgbClr val="58606B"/>
                </a:solidFill>
              </a:defRPr>
            </a:pPr>
            <a:r>
              <a:t>2. 建立可追溯的法規依據</a:t>
            </a:r>
          </a:p>
          <a:p>
            <a:pPr>
              <a:defRPr sz="1400" b="0">
                <a:solidFill>
                  <a:srgbClr val="58606B"/>
                </a:solidFill>
              </a:defRPr>
            </a:pPr>
            <a:r>
              <a:t>3. 整合 AI + 規則引擎 + RAG</a:t>
            </a:r>
          </a:p>
          <a:p>
            <a:pPr>
              <a:defRPr sz="1400" b="0">
                <a:solidFill>
                  <a:srgbClr val="58606B"/>
                </a:solidFill>
              </a:defRPr>
            </a:pPr>
            <a:r>
              <a:t>4. 提供互動式 Web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06B"/>
                </a:solidFill>
              </a:defRPr>
            </a:pPr>
            <a:r>
              <a:t>FoodGuard｜專題 Demo｜2026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442"/>
                </a:solidFill>
              </a:defRPr>
            </a:pPr>
            <a:r>
              <a:t>一、研究背景與系統目標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606B"/>
                </a:solidFill>
              </a:defRPr>
            </a:pPr>
            <a:r>
              <a:t>食品標示合規檢查需兼顧法規依據、數值判斷與可解釋性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3931920"/>
          </a:xfrm>
          <a:prstGeom prst="rect">
            <a:avLst/>
          </a:prstGeom>
          <a:noFill/>
        </p:spPr>
        <p:txBody>
          <a:bodyPr wrap="square" lIns="10" rIns="8" tIns="8" bIns="8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食品包裝資訊常涉及法規、營養宣稱與過敏原風險，判讀容易受主觀解讀影響。</a:t>
            </a:r>
          </a:p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一般 AI 回答可能缺乏官方依據，導致判斷結果不具可驗證性。</a:t>
            </a:r>
          </a:p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系統必須結合官方法規資料庫、規則引擎與追蹤來源能力。</a:t>
            </a:r>
          </a:p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為了實務應用，需要提供結論、依據與建議，同時保留 UI 可操作性。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4937760" cy="3931920"/>
          </a:xfrm>
          <a:prstGeom prst="rect">
            <a:avLst/>
          </a:prstGeom>
          <a:noFill/>
        </p:spPr>
        <p:txBody>
          <a:bodyPr wrap="square" lIns="10" rIns="8" tIns="8" bIns="8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支援食品品名、成分、營養標示與營養宣稱輸入。</a:t>
            </a:r>
          </a:p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利用 RAG 檢索 TFDA 官方文件與法規文本。</a:t>
            </a:r>
          </a:p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結合 MCP 工具協作與 Python deterministic rule engine。</a:t>
            </a:r>
          </a:p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輸出判讀結果、法規證據與可下載離線報告。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442"/>
                </a:solidFill>
              </a:defRPr>
            </a:pPr>
            <a:r>
              <a:t>二、系統架構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606B"/>
                </a:solidFill>
              </a:defRPr>
            </a:pPr>
            <a:r>
              <a:t>以 User Interface、MCP Client、Server Tools 與 RAG 引擎構成分層式架構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463040" cy="1097280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Streamlit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645920"/>
            <a:ext cx="1645920" cy="1097280"/>
          </a:xfrm>
          <a:prstGeom prst="roundRect">
            <a:avLst/>
          </a:prstGeom>
          <a:solidFill>
            <a:srgbClr val="148F96"/>
          </a:solidFill>
          <a:ln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MCP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1645920" cy="1097280"/>
          </a:xfrm>
          <a:prstGeom prst="roundRect">
            <a:avLst/>
          </a:prstGeom>
          <a:solidFill>
            <a:srgbClr val="29805C"/>
          </a:solidFill>
          <a:ln>
            <a:solidFill>
              <a:srgbClr val="29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MCP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1645920" cy="109728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Rule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645920"/>
            <a:ext cx="1737360" cy="1097280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RAG Retriever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0" y="1645920"/>
            <a:ext cx="1097280" cy="1097280"/>
          </a:xfrm>
          <a:prstGeom prst="roundRect">
            <a:avLst/>
          </a:prstGeom>
          <a:solidFill>
            <a:srgbClr val="0F2442"/>
          </a:solidFill>
          <a:ln>
            <a:solidFill>
              <a:srgbClr val="0F2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Official 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474720"/>
            <a:ext cx="2286000" cy="914400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SQLite / 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474720"/>
            <a:ext cx="2011680" cy="914400"/>
          </a:xfrm>
          <a:prstGeom prst="roundRect">
            <a:avLst/>
          </a:prstGeom>
          <a:solidFill>
            <a:srgbClr val="148F96"/>
          </a:solidFill>
          <a:ln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FAISS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3474720"/>
            <a:ext cx="1554480" cy="914400"/>
          </a:xfrm>
          <a:prstGeom prst="roundRect">
            <a:avLst/>
          </a:prstGeom>
          <a:solidFill>
            <a:srgbClr val="29805C"/>
          </a:solidFill>
          <a:ln>
            <a:solidFill>
              <a:srgbClr val="29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LLM / Summary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03120.0" y="2194560.0"/>
            <a:ext cx="2286000.0" cy="0.0"/>
          </a:xfrm>
          <a:prstGeom prst="line">
            <a:avLst/>
          </a:prstGeom>
          <a:ln w="25400">
            <a:solidFill>
              <a:srgbClr val="586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.0" y="2194560.0"/>
            <a:ext cx="365760.0" cy="0.0"/>
          </a:xfrm>
          <a:prstGeom prst="line">
            <a:avLst/>
          </a:prstGeom>
          <a:ln w="25400">
            <a:solidFill>
              <a:srgbClr val="586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46720.000000001" y="2194560.0"/>
            <a:ext cx="365759.99999999907" cy="0.0"/>
          </a:xfrm>
          <a:prstGeom prst="line">
            <a:avLst/>
          </a:prstGeom>
          <a:ln w="25400">
            <a:solidFill>
              <a:srgbClr val="586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.0" y="2194560.0"/>
            <a:ext cx="274320.0" cy="0.0"/>
          </a:xfrm>
          <a:prstGeom prst="line">
            <a:avLst/>
          </a:prstGeom>
          <a:ln w="25400">
            <a:solidFill>
              <a:srgbClr val="586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12080.0" y="2743200.0"/>
            <a:ext cx="0.0" cy="731520.0"/>
          </a:xfrm>
          <a:prstGeom prst="line">
            <a:avLst/>
          </a:prstGeom>
          <a:ln w="25400">
            <a:solidFill>
              <a:srgbClr val="586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95360.0" y="2743200.0"/>
            <a:ext cx="0.0" cy="731520.0"/>
          </a:xfrm>
          <a:prstGeom prst="line">
            <a:avLst/>
          </a:prstGeom>
          <a:ln w="25400">
            <a:solidFill>
              <a:srgbClr val="586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789920.0" y="2743200.0"/>
            <a:ext cx="0.0" cy="731520.0"/>
          </a:xfrm>
          <a:prstGeom prst="line">
            <a:avLst/>
          </a:prstGeom>
          <a:ln w="25400">
            <a:solidFill>
              <a:srgbClr val="586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5029200"/>
            <a:ext cx="10789920" cy="1097280"/>
          </a:xfrm>
          <a:prstGeom prst="rect">
            <a:avLst/>
          </a:prstGeom>
          <a:noFill/>
        </p:spPr>
        <p:txBody>
          <a:bodyPr wrap="square" lIns="8" rIns="8" tIns="6" bIns="6">
            <a:spAutoFit/>
          </a:bodyPr>
          <a:lstStyle/>
          <a:p>
            <a:pPr algn="l">
              <a:defRPr sz="1700" b="1">
                <a:solidFill>
                  <a:srgbClr val="0F2442"/>
                </a:solidFill>
              </a:defRPr>
            </a:pPr>
            <a:r>
              <a:t>資料流：使用者輸入 → 解析產品資料 → MCP Client 調用工具 → RAG 檢索官方文件 → 規則引擎判讀 → LLM 整理結論與依據 → UI 顯示/下載報告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442"/>
                </a:solidFill>
              </a:defRPr>
            </a:pPr>
            <a:r>
              <a:t>三、系統設計與模組分工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606B"/>
                </a:solidFill>
              </a:defRPr>
            </a:pPr>
            <a:r>
              <a:t>設計重點：模組化、可追蹤、可驗證與可擴充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noFill/>
        </p:spPr>
        <p:txBody>
          <a:bodyPr wrap="square" lIns="10" rIns="8" tIns="8" bIns="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2442"/>
                </a:solidFill>
              </a:defRPr>
            </a:pPr>
            <a:r>
              <a:t>app.py：Streamlit 互動介面，負責產品輸入、顯示判讀結果與法規來源。</a:t>
            </a:r>
          </a:p>
          <a:p>
            <a:pPr>
              <a:spcAft>
                <a:spcPts val="800"/>
              </a:spcAft>
              <a:defRPr sz="1900">
                <a:solidFill>
                  <a:srgbClr val="0F2442"/>
                </a:solidFill>
              </a:defRPr>
            </a:pPr>
            <a:r>
              <a:t>foodguard/：負責輸入解析、產品資料結構化、規則判讀與上下文處理。</a:t>
            </a:r>
          </a:p>
          <a:p>
            <a:pPr>
              <a:spcAft>
                <a:spcPts val="800"/>
              </a:spcAft>
              <a:defRPr sz="1900">
                <a:solidFill>
                  <a:srgbClr val="0F2442"/>
                </a:solidFill>
              </a:defRPr>
            </a:pPr>
            <a:r>
              <a:t>backend/：處理 PDF 讀取、chunk 切分、embedding 與索引建立。</a:t>
            </a:r>
          </a:p>
          <a:p>
            <a:pPr>
              <a:spcAft>
                <a:spcPts val="800"/>
              </a:spcAft>
              <a:defRPr sz="1900">
                <a:solidFill>
                  <a:srgbClr val="0F2442"/>
                </a:solidFill>
              </a:defRPr>
            </a:pPr>
            <a:r>
              <a:t>rag/：建立 FAISS 向量儲存與檢索，保留 chunk metadata、source、page 與分數。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4937760" cy="4114800"/>
          </a:xfrm>
          <a:prstGeom prst="rect">
            <a:avLst/>
          </a:prstGeom>
          <a:noFill/>
        </p:spPr>
        <p:txBody>
          <a:bodyPr wrap="square" lIns="10" rIns="8" tIns="8" bIns="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2442"/>
                </a:solidFill>
              </a:defRPr>
            </a:pPr>
            <a:r>
              <a:t>mcp_server.py：對外提供 search_food_regulation、check_allergens 等工具。</a:t>
            </a:r>
          </a:p>
          <a:p>
            <a:pPr>
              <a:spcAft>
                <a:spcPts val="800"/>
              </a:spcAft>
              <a:defRPr sz="1900">
                <a:solidFill>
                  <a:srgbClr val="0F2442"/>
                </a:solidFill>
              </a:defRPr>
            </a:pPr>
            <a:r>
              <a:t>mcp_client.py：負責與 MCP Server 通訊，統整 tool responses 與會話歷史。</a:t>
            </a:r>
          </a:p>
          <a:p>
            <a:pPr>
              <a:spcAft>
                <a:spcPts val="800"/>
              </a:spcAft>
              <a:defRPr sz="1900">
                <a:solidFill>
                  <a:srgbClr val="0F2442"/>
                </a:solidFill>
              </a:defRPr>
            </a:pPr>
            <a:r>
              <a:t>data/：保存 FAISS index、SQLite 記憶體、報告與訓練/判斷規則資料。</a:t>
            </a:r>
          </a:p>
          <a:p>
            <a:pPr>
              <a:spcAft>
                <a:spcPts val="800"/>
              </a:spcAft>
              <a:defRPr sz="1900">
                <a:solidFill>
                  <a:srgbClr val="0F2442"/>
                </a:solidFill>
              </a:defRPr>
            </a:pPr>
            <a:r>
              <a:t>documents/：官方法規資料來源，作為唯一判斷依據來源。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442"/>
                </a:solidFill>
              </a:defRPr>
            </a:pPr>
            <a:r>
              <a:t>四、設計原則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606B"/>
                </a:solidFill>
              </a:defRPr>
            </a:pPr>
            <a:r>
              <a:t>系統設計遵守可驗證性與安全性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8992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2442"/>
                </a:solidFill>
              </a:defRPr>
            </a:pPr>
            <a:r>
              <a:t>法規唯一來源：法規依據僅取自 documents/，不自行生成法規內容，避免幻覺。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78992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2442"/>
                </a:solidFill>
              </a:defRPr>
            </a:pPr>
            <a:r>
              <a:t>可追溯證據：每個判定保留文件名稱、頁碼、chunk ID、引用內容與相關度。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2442"/>
                </a:solidFill>
              </a:defRPr>
            </a:pPr>
            <a:r>
              <a:t>規則優先：數字比較與欄位判斷由 Python rule engine 執行，避免純 LLM 推論。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78992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2442"/>
                </a:solidFill>
              </a:defRPr>
            </a:pPr>
            <a:r>
              <a:t>失敗時保守：若無足夠證據，統一顯示「目前知識庫找不到足夠依據」。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78992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2442"/>
                </a:solidFill>
              </a:defRPr>
            </a:pPr>
            <a:r>
              <a:t>MCP 協作：工具分工明確，讓檢索、核對與摘要分離，提升系統可維護性。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8992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2442"/>
                </a:solidFill>
              </a:defRPr>
            </a:pPr>
            <a:r>
              <a:t>多層 fallback：產品資料、DRIs、RAG 與 LLM 可作為保底，但不取代法規依據。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442"/>
                </a:solidFill>
              </a:defRPr>
            </a:pPr>
            <a:r>
              <a:t>五、系統規格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606B"/>
                </a:solidFill>
              </a:defRPr>
            </a:pPr>
            <a:r>
              <a:t>功能、環境與執行需求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383280" cy="274320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開發環境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Windows / VS Code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Python 3.11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Streamlit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Official MCP Python SDK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OpenAI API / Ollama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2743200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核心資料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documents/ 法規文件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FAISS 向量索引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SQLite session memory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nutrition_claim_rules.json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food_composition.db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383280" cy="2743200"/>
          </a:xfrm>
          <a:prstGeom prst="roundRect">
            <a:avLst/>
          </a:prstGeom>
          <a:solidFill>
            <a:srgbClr val="148F96"/>
          </a:solidFill>
          <a:ln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核心能力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營養宣稱查核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過敏原辨識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法規 RAG 檢索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Web Search / 問答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離線報告輸出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1188720"/>
          </a:xfrm>
          <a:prstGeom prst="rect">
            <a:avLst/>
          </a:prstGeom>
          <a:noFill/>
        </p:spPr>
        <p:txBody>
          <a:bodyPr wrap="square" lIns="10" rIns="8" tIns="8" bIns="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2442"/>
                </a:solidFill>
              </a:defRPr>
            </a:pPr>
            <a:r>
              <a:t>系統支援本機運行與 Web UI 展示，並可將結果保存至 SQLite 與 HTML 報告檔。</a:t>
            </a:r>
          </a:p>
          <a:p>
            <a:pPr>
              <a:spcAft>
                <a:spcPts val="800"/>
              </a:spcAft>
              <a:defRPr sz="1700">
                <a:solidFill>
                  <a:srgbClr val="0F2442"/>
                </a:solidFill>
              </a:defRPr>
            </a:pPr>
            <a:r>
              <a:t>資料處理流程以 deterministic rule engine 為主，並以 LLM 做整合式摘要與說明。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442"/>
                </a:solidFill>
              </a:defRPr>
            </a:pPr>
            <a:r>
              <a:t>六、系統工作流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606B"/>
                </a:solidFill>
              </a:defRPr>
            </a:pPr>
            <a:r>
              <a:t>由輸入到判讀結論的完整執行流程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01752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F2442"/>
                </a:solidFill>
              </a:defRPr>
            </a:pPr>
            <a:r>
              <a:t>1. 輸入資料</a:t>
            </a:r>
          </a:p>
          <a:p>
            <a:pPr>
              <a:defRPr sz="1200">
                <a:solidFill>
                  <a:srgbClr val="58606B"/>
                </a:solidFill>
              </a:defRPr>
            </a:pPr>
            <a:r>
              <a:t>使用者輸入品名、成分、營養標示與宣稱。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01752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F2442"/>
                </a:solidFill>
              </a:defRPr>
            </a:pPr>
            <a:r>
              <a:t>2. 解析產品</a:t>
            </a:r>
          </a:p>
          <a:p>
            <a:pPr>
              <a:defRPr sz="1200">
                <a:solidFill>
                  <a:srgbClr val="58606B"/>
                </a:solidFill>
              </a:defRPr>
            </a:pPr>
            <a:r>
              <a:t>foodguard.parsing 正規化為 product_data 結構。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01752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F2442"/>
                </a:solidFill>
              </a:defRPr>
            </a:pPr>
            <a:r>
              <a:t>3. 呼叫工具</a:t>
            </a:r>
          </a:p>
          <a:p>
            <a:pPr>
              <a:defRPr sz="1200">
                <a:solidFill>
                  <a:srgbClr val="58606B"/>
                </a:solidFill>
              </a:defRPr>
            </a:pPr>
            <a:r>
              <a:t>MCP Client 透過 stdio 啟動 MCP Server。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301752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F2442"/>
                </a:solidFill>
              </a:defRPr>
            </a:pPr>
            <a:r>
              <a:t>4. 檢索法規</a:t>
            </a:r>
          </a:p>
          <a:p>
            <a:pPr>
              <a:defRPr sz="1200">
                <a:solidFill>
                  <a:srgbClr val="58606B"/>
                </a:solidFill>
              </a:defRPr>
            </a:pPr>
            <a:r>
              <a:t>RAG 搜尋相關文件與依據來源。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291840"/>
            <a:ext cx="301752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F2442"/>
                </a:solidFill>
              </a:defRPr>
            </a:pPr>
            <a:r>
              <a:t>5. 進行判讀</a:t>
            </a:r>
          </a:p>
          <a:p>
            <a:pPr>
              <a:defRPr sz="1200">
                <a:solidFill>
                  <a:srgbClr val="58606B"/>
                </a:solidFill>
              </a:defRPr>
            </a:pPr>
            <a:r>
              <a:t>rule engine 比對欄位、門檻值與宣稱適用性。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291840"/>
            <a:ext cx="301752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F2442"/>
                </a:solidFill>
              </a:defRPr>
            </a:pPr>
            <a:r>
              <a:t>6. 輸出結果</a:t>
            </a:r>
          </a:p>
          <a:p>
            <a:pPr>
              <a:defRPr sz="1200">
                <a:solidFill>
                  <a:srgbClr val="58606B"/>
                </a:solidFill>
              </a:defRPr>
            </a:pPr>
            <a:r>
              <a:t>UI 顯示結論、引證、建議與報告下載。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442"/>
                </a:solidFill>
              </a:defRPr>
            </a:pPr>
            <a:r>
              <a:t>七、結論與未來發展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606B"/>
                </a:solidFill>
              </a:defRPr>
            </a:pPr>
            <a:r>
              <a:t>系統可作為食品標示智慧檢查原型，兼顧可用性與法規可信度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3474720"/>
          </a:xfrm>
          <a:prstGeom prst="rect">
            <a:avLst/>
          </a:prstGeom>
          <a:noFill/>
        </p:spPr>
        <p:txBody>
          <a:bodyPr wrap="square" lIns="10" rIns="8" tIns="8" bIns="8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本系統能將食品標示判讀從純文字問答，轉為具法規依據與可追溯的結構化判讀。</a:t>
            </a:r>
          </a:p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透過 MCP 將檢索、規則與摘要模組拆分，有助於維護與延展。</a:t>
            </a:r>
          </a:p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Faiss + RAG + 公式規則結合，使判讀更具可信度與一致性。</a:t>
            </a:r>
          </a:p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未來可以擴大資料涵蓋範圍，整合更多官方食品法規與數據庫。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029200" cy="3474720"/>
          </a:xfrm>
          <a:prstGeom prst="rect">
            <a:avLst/>
          </a:prstGeom>
          <a:noFill/>
        </p:spPr>
        <p:txBody>
          <a:bodyPr wrap="square" lIns="10" rIns="8" tIns="8" bIns="8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可加入更多食品類別與營養項目判讀邏輯。</a:t>
            </a:r>
          </a:p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可整合雲端部署與使用者帳號管理。</a:t>
            </a:r>
          </a:p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可強化 Web Search + FAQ + 風險提醒功能。</a:t>
            </a:r>
          </a:p>
          <a:p>
            <a:pPr>
              <a:spcAft>
                <a:spcPts val="800"/>
              </a:spcAft>
              <a:defRPr sz="2000">
                <a:solidFill>
                  <a:srgbClr val="0F2442"/>
                </a:solidFill>
              </a:defRPr>
            </a:pPr>
            <a:r>
              <a:t>可發展為實際合規審核工具或校內研究展示平台。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FoodGuard：結合 MCP、RAG、規則引擎與 Streamlit 的食品標示智慧判讀架構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